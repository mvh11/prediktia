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Plus Jakarta Sans"/>
      <p:regular r:id="rId24"/>
      <p:bold r:id="rId25"/>
      <p:italic r:id="rId26"/>
      <p:boldItalic r:id="rId27"/>
    </p:embeddedFont>
    <p:embeddedFont>
      <p:font typeface="Outfit"/>
      <p:regular r:id="rId28"/>
      <p:bold r:id="rId29"/>
    </p:embeddedFont>
    <p:embeddedFont>
      <p:font typeface="Plus Jakarta Sans SemiBold"/>
      <p:regular r:id="rId30"/>
      <p:bold r:id="rId31"/>
      <p:italic r:id="rId32"/>
      <p:boldItalic r:id="rId33"/>
    </p:embeddedFont>
    <p:embeddedFont>
      <p:font typeface="Plus Jakarta Sans Medium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997520-7C52-494E-8F2C-630E7FFE777E}">
  <a:tblStyle styleId="{E0997520-7C52-494E-8F2C-630E7FFE777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lusJakartaSans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italic.fntdata"/><Relationship Id="rId25" Type="http://schemas.openxmlformats.org/officeDocument/2006/relationships/font" Target="fonts/PlusJakartaSans-bold.fntdata"/><Relationship Id="rId28" Type="http://schemas.openxmlformats.org/officeDocument/2006/relationships/font" Target="fonts/Outfit-regular.fntdata"/><Relationship Id="rId27" Type="http://schemas.openxmlformats.org/officeDocument/2006/relationships/font" Target="fonts/PlusJakarta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utfi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usJakartaSansSemiBold-bold.fntdata"/><Relationship Id="rId30" Type="http://schemas.openxmlformats.org/officeDocument/2006/relationships/font" Target="fonts/PlusJakartaSans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PlusJakartaSans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PlusJakartaSansSemiBold-italic.fntdata"/><Relationship Id="rId13" Type="http://schemas.openxmlformats.org/officeDocument/2006/relationships/slide" Target="slides/slide7.xml"/><Relationship Id="rId35" Type="http://schemas.openxmlformats.org/officeDocument/2006/relationships/font" Target="fonts/PlusJakartaSansMedium-bold.fntdata"/><Relationship Id="rId12" Type="http://schemas.openxmlformats.org/officeDocument/2006/relationships/slide" Target="slides/slide6.xml"/><Relationship Id="rId34" Type="http://schemas.openxmlformats.org/officeDocument/2006/relationships/font" Target="fonts/PlusJakartaSansMedium-regular.fntdata"/><Relationship Id="rId15" Type="http://schemas.openxmlformats.org/officeDocument/2006/relationships/slide" Target="slides/slide9.xml"/><Relationship Id="rId37" Type="http://schemas.openxmlformats.org/officeDocument/2006/relationships/font" Target="fonts/PlusJakartaSansMedium-boldItalic.fntdata"/><Relationship Id="rId14" Type="http://schemas.openxmlformats.org/officeDocument/2006/relationships/slide" Target="slides/slide8.xml"/><Relationship Id="rId36" Type="http://schemas.openxmlformats.org/officeDocument/2006/relationships/font" Target="fonts/PlusJakartaSansMedium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88199263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a88199263a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10" Type="http://schemas.openxmlformats.org/officeDocument/2006/relationships/image" Target="../media/image16.png"/><Relationship Id="rId9" Type="http://schemas.openxmlformats.org/officeDocument/2006/relationships/image" Target="../media/image24.png"/><Relationship Id="rId5" Type="http://schemas.openxmlformats.org/officeDocument/2006/relationships/image" Target="../media/image13.png"/><Relationship Id="rId6" Type="http://schemas.openxmlformats.org/officeDocument/2006/relationships/image" Target="../media/image30.png"/><Relationship Id="rId7" Type="http://schemas.openxmlformats.org/officeDocument/2006/relationships/image" Target="../media/image14.png"/><Relationship Id="rId8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11" Type="http://schemas.openxmlformats.org/officeDocument/2006/relationships/image" Target="../media/image17.png"/><Relationship Id="rId10" Type="http://schemas.openxmlformats.org/officeDocument/2006/relationships/image" Target="../media/image25.png"/><Relationship Id="rId9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image" Target="../media/image15.png"/><Relationship Id="rId8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38.png"/><Relationship Id="rId5" Type="http://schemas.openxmlformats.org/officeDocument/2006/relationships/image" Target="../media/image29.png"/><Relationship Id="rId6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4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7.png"/><Relationship Id="rId5" Type="http://schemas.openxmlformats.org/officeDocument/2006/relationships/image" Target="../media/image4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Relationship Id="rId5" Type="http://schemas.openxmlformats.org/officeDocument/2006/relationships/image" Target="../media/image46.png"/><Relationship Id="rId6" Type="http://schemas.openxmlformats.org/officeDocument/2006/relationships/image" Target="../media/image48.png"/><Relationship Id="rId7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1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880723" y="2643187"/>
            <a:ext cx="4430553" cy="890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75" u="none" cap="none" strike="noStrik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PREDIKTIA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500312" y="3724275"/>
            <a:ext cx="7191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D1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ANÁLISIS PREDICTIVO DEPORTIVO CON IA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743200" y="4600575"/>
            <a:ext cx="29718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DESARROLLADORES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743200" y="4881562"/>
            <a:ext cx="2971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Maximiliano Venegas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Elías Lobos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477000" y="4600575"/>
            <a:ext cx="29718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CÁTEDRA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477000" y="4881562"/>
            <a:ext cx="2971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Taller Aplicado de Programación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Prof. Christian Alvarez Lobos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1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19287"/>
            <a:ext cx="50863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4629150"/>
            <a:ext cx="508635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71525" y="1919287"/>
            <a:ext cx="534066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FF88"/>
                </a:solidFill>
                <a:latin typeface="Outfit"/>
                <a:ea typeface="Outfit"/>
                <a:cs typeface="Outfit"/>
                <a:sym typeface="Outfit"/>
              </a:rPr>
              <a:t>El Desafío Actual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71525" y="2347912"/>
            <a:ext cx="508635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Históricamente, los pronósticos deportivos se han basado en </a:t>
            </a:r>
            <a:r>
              <a:rPr b="0" i="0" lang="en-US" sz="1425" u="none" cap="none" strike="noStrik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intuición, favoritismos o datos fragmentados</a:t>
            </a: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Esto genera una baja precisión y una gestión ineficiente del capital.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71525" y="3529012"/>
            <a:ext cx="50863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Las plataformas existentes son complejas, están saturadas de publicidad y carecen de un motor analítico que identifique el </a:t>
            </a:r>
            <a:r>
              <a:rPr b="0" i="0" lang="en-US" sz="1425" u="none" cap="none" strike="noStrik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valor real</a:t>
            </a: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(Value Bets) en el mercado.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00125" y="4819650"/>
            <a:ext cx="4667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Efectos detectados: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Pérdidas económicas, mala gestión del riesgo y desconfianza en los sistemas de análisis.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La Crisis de la Intuición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771525" y="108585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01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771525" y="581025"/>
            <a:ext cx="11181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As-Is</a:t>
            </a:r>
            <a:endParaRPr/>
          </a:p>
        </p:txBody>
      </p:sp>
      <p:pic>
        <p:nvPicPr>
          <p:cNvPr id="110" name="Google Shape;11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7725" y="305737"/>
            <a:ext cx="1936550" cy="624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10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500312"/>
            <a:ext cx="5086350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1019175" y="3290887"/>
            <a:ext cx="48206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FF88"/>
                </a:solidFill>
                <a:latin typeface="Outfit"/>
                <a:ea typeface="Outfit"/>
                <a:cs typeface="Outfit"/>
                <a:sym typeface="Outfit"/>
              </a:rPr>
              <a:t>Misión General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019175" y="3719512"/>
            <a:ext cx="459105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Proporcionar una herramienta de </a:t>
            </a:r>
            <a:r>
              <a:rPr b="0" i="0" lang="en-US" sz="1425" u="none" cap="none" strike="noStrik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análisis cuantitativo</a:t>
            </a: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deportivo que identifique oportunidades de valor (Value Bets) mediante modelos automatizados, eliminando la subjetividad emocional.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6334125" y="2500312"/>
            <a:ext cx="534066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FF88"/>
                </a:solidFill>
                <a:latin typeface="Outfit"/>
                <a:ea typeface="Outfit"/>
                <a:cs typeface="Outfit"/>
                <a:sym typeface="Outfit"/>
              </a:rPr>
              <a:t>Estrategia Específica</a:t>
            </a:r>
            <a:endParaRPr/>
          </a:p>
        </p:txBody>
      </p:sp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9175" y="281463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6334125" y="2928937"/>
            <a:ext cx="50863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Visualizar estadísticas de forma centralizada e intuitiva.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334125" y="3295650"/>
            <a:ext cx="50863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Implementar modelos de probabilidad (Poisson).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334125" y="3662362"/>
            <a:ext cx="50863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Identificar apuestas con valor real vs cuota de mercado.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334125" y="4029075"/>
            <a:ext cx="50863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Clasificar recomendaciones por nivel de riesgo.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981325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348037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714750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081462"/>
            <a:ext cx="1809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Objetivos de Impacto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771525" y="108585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10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78856"/>
            <a:ext cx="5086350" cy="3090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78856"/>
            <a:ext cx="5086350" cy="309086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962025" y="2469356"/>
            <a:ext cx="494061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FF88"/>
                </a:solidFill>
                <a:latin typeface="Outfit"/>
                <a:ea typeface="Outfit"/>
                <a:cs typeface="Outfit"/>
                <a:sym typeface="Outfit"/>
              </a:rPr>
              <a:t>Inclusiones (Lo que construimos)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62025" y="2897981"/>
            <a:ext cx="47053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Análisis probabilístico de fútbol profesional (Ligas LATAM y Europa).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962025" y="3536156"/>
            <a:ext cx="47053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Generador de combinadas ACCA dinámico.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62025" y="3902868"/>
            <a:ext cx="47053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Panel de control con métricas de ROI y Hitrate.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962025" y="4269581"/>
            <a:ext cx="47053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Integración en tiempo real con proveedores de datos.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524625" y="2469356"/>
            <a:ext cx="494061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4D4D"/>
                </a:solidFill>
                <a:latin typeface="Outfit"/>
                <a:ea typeface="Outfit"/>
                <a:cs typeface="Outfit"/>
                <a:sym typeface="Outfit"/>
              </a:rPr>
              <a:t>Exclusiones (Lo que NO hacemos)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524625" y="2897981"/>
            <a:ext cx="47053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0" i="0" lang="en-US" sz="1425" u="none" cap="none" strike="noStrik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NO procesamos apuestas reales</a:t>
            </a: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ni transacciones de dinero.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524625" y="3536156"/>
            <a:ext cx="47053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NO somos un operador de juegos de azar ni casa de apuestas.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524625" y="4174331"/>
            <a:ext cx="47053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NO garantizamos ganancias económicas bajo ninguna métrica.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524625" y="4812506"/>
            <a:ext cx="47053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Propósito estrictamente informativo y estadístico.</a:t>
            </a:r>
            <a:endParaRPr/>
          </a:p>
        </p:txBody>
      </p:sp>
      <p:pic>
        <p:nvPicPr>
          <p:cNvPr descr="image.png" id="148" name="Google Shape;14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507456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4625" y="2507456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Alcance y Cumplimiento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771525" y="108585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1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6525" y="2424112"/>
            <a:ext cx="8743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6525" y="2805112"/>
            <a:ext cx="8743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6525" y="3186112"/>
            <a:ext cx="8743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6525" y="3567112"/>
            <a:ext cx="8743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6525" y="3948112"/>
            <a:ext cx="8743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6525" y="4329112"/>
            <a:ext cx="8743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76525" y="2424112"/>
            <a:ext cx="8743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76525" y="2805112"/>
            <a:ext cx="8743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76525" y="3186112"/>
            <a:ext cx="6557962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76525" y="3567112"/>
            <a:ext cx="524634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676525" y="3948112"/>
            <a:ext cx="174873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676525" y="4329112"/>
            <a:ext cx="1428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771525" y="4900612"/>
            <a:ext cx="10648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* Metodología </a:t>
            </a:r>
            <a:r>
              <a:rPr b="0" i="0" lang="en-US" sz="1200" u="none" cap="none" strike="noStrik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Scrum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 entregas incrementales y validación continua por módulos.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71525" y="2466975"/>
            <a:ext cx="1714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F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Inicio (Análisis)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771525" y="2847975"/>
            <a:ext cx="1714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F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Diseño (Mockups)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71525" y="3228975"/>
            <a:ext cx="1714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F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Backend (API)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771525" y="3609975"/>
            <a:ext cx="1714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F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Frontend (Next.js)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71525" y="3990975"/>
            <a:ext cx="1714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F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Pruebas (QA)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771525" y="4371975"/>
            <a:ext cx="1714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F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Entrega Final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Planificación Estratégica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771525" y="108585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1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771525" y="1245393"/>
            <a:ext cx="4790598" cy="100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Arquitectura Desacoplada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771525" y="2540793"/>
            <a:ext cx="45624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Prediktia utiliza un modelo </a:t>
            </a:r>
            <a:r>
              <a:rPr b="0" i="0" lang="en-US" sz="1425" u="none" cap="none" strike="noStrik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Cliente-Servidor</a:t>
            </a: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distribuido en la nube, optimizado para alta concurrencia y cálculos en tiempo real.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771525" y="3736181"/>
            <a:ext cx="47905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FF88"/>
                </a:solidFill>
                <a:latin typeface="Outfit"/>
                <a:ea typeface="Outfit"/>
                <a:cs typeface="Outfit"/>
                <a:sym typeface="Outfit"/>
              </a:rPr>
              <a:t>Pipeline de Datos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771525" y="4164806"/>
            <a:ext cx="45624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Captura de datos vía API-Football.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771525" y="4531518"/>
            <a:ext cx="45624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Procesamiento matemático en Python (FastAPI).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771525" y="4898231"/>
            <a:ext cx="45624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Persistencia en PostgreSQL Cloud (Neon).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771525" y="5264943"/>
            <a:ext cx="45624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Entrega de resultados reactivos en Next.js.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771525" y="2255043"/>
            <a:ext cx="67716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2750" y="1214438"/>
            <a:ext cx="6629400" cy="44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10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62187"/>
            <a:ext cx="3422600" cy="2376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2262187"/>
            <a:ext cx="3422600" cy="2376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7725" y="2262187"/>
            <a:ext cx="3422749" cy="237648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1538287" y="5019675"/>
            <a:ext cx="8763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Docker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3948112" y="5019675"/>
            <a:ext cx="8191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GitHub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300787" y="5019675"/>
            <a:ext cx="15430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Vercel / Render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9377362" y="5019675"/>
            <a:ext cx="12763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API-Football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1019175" y="3052762"/>
            <a:ext cx="30736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FF88"/>
                </a:solidFill>
                <a:latin typeface="Outfit"/>
                <a:ea typeface="Outfit"/>
                <a:cs typeface="Outfit"/>
                <a:sym typeface="Outfit"/>
              </a:rPr>
              <a:t>Frontend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1019175" y="3481387"/>
            <a:ext cx="292730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Next.js + Tailwind CSS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Interfaz reactiva, moderna y 100% responsiva (Mobile First).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4632275" y="3052762"/>
            <a:ext cx="30736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FF88"/>
                </a:solidFill>
                <a:latin typeface="Outfit"/>
                <a:ea typeface="Outfit"/>
                <a:cs typeface="Outfit"/>
                <a:sym typeface="Outfit"/>
              </a:rPr>
              <a:t>Backend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4632275" y="3481387"/>
            <a:ext cx="292730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FastAPI + Python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Procesamiento estadístico de alto rendimiento y APIs tipo REST.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8245375" y="3052762"/>
            <a:ext cx="307382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FF88"/>
                </a:solidFill>
                <a:latin typeface="Outfit"/>
                <a:ea typeface="Outfit"/>
                <a:cs typeface="Outfit"/>
                <a:sym typeface="Outfit"/>
              </a:rPr>
              <a:t>Persistencia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8245375" y="3481387"/>
            <a:ext cx="2927449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Neon PostgreSQL + SQLAlchemy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Base de datos relacional con ORM para gestión eficiente de datos.</a:t>
            </a:r>
            <a:endParaRPr/>
          </a:p>
        </p:txBody>
      </p:sp>
      <p:pic>
        <p:nvPicPr>
          <p:cNvPr descr="image.png" id="210" name="Google Shape;21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8287" y="5076825"/>
            <a:ext cx="2286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48112" y="50768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0787" y="5076825"/>
            <a:ext cx="2286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77362" y="5076825"/>
            <a:ext cx="1809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19175" y="257651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32275" y="2576512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245375" y="2576512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Infraestructura y Tecnologías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771525" y="108585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10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57412"/>
            <a:ext cx="5086350" cy="3333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5" name="Google Shape;225;p21"/>
          <p:cNvGraphicFramePr/>
          <p:nvPr/>
        </p:nvGraphicFramePr>
        <p:xfrm>
          <a:off x="771525" y="2252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{E0997520-7C52-494E-8F2C-630E7FFE777E}</a:tableStyleId>
              </a:tblPr>
              <a:tblGrid>
                <a:gridCol w="1095375"/>
                <a:gridCol w="2501800"/>
                <a:gridCol w="1489175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FF8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Entidad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FF8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Campos Críticos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FF8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Relación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8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Partido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id, equipo_L, equipo_V, cuotas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1:N Estadísticas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Predicción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probabilidad, EV, riesgo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N:1 Partido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Estadística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goles, victorias, derrotas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N:1 Partido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21"/>
          <p:cNvSpPr/>
          <p:nvPr/>
        </p:nvSpPr>
        <p:spPr>
          <a:xfrm>
            <a:off x="771525" y="2833687"/>
            <a:ext cx="1095375" cy="1905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1866900" y="2833687"/>
            <a:ext cx="2501800" cy="1905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4368700" y="2833687"/>
            <a:ext cx="1489174" cy="1905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9" name="Google Shape;22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66937"/>
            <a:ext cx="50673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/>
          <p:nvPr/>
        </p:nvSpPr>
        <p:spPr>
          <a:xfrm>
            <a:off x="771525" y="3588543"/>
            <a:ext cx="10953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1866900" y="3588543"/>
            <a:ext cx="25018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4368700" y="3588543"/>
            <a:ext cx="148917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771525" y="4333875"/>
            <a:ext cx="10953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1866900" y="4333875"/>
            <a:ext cx="25018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4368700" y="4333875"/>
            <a:ext cx="148917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771525" y="4869507"/>
            <a:ext cx="10953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1866900" y="4869507"/>
            <a:ext cx="25018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4368700" y="4869507"/>
            <a:ext cx="148917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771525" y="5405437"/>
            <a:ext cx="10953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1866900" y="5405437"/>
            <a:ext cx="25018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4368700" y="5405437"/>
            <a:ext cx="148917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Estructura del Sistema (ER)</a:t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771525" y="108585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10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750343"/>
            <a:ext cx="5086350" cy="2147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750343"/>
            <a:ext cx="5086350" cy="2147887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1019175" y="3017043"/>
            <a:ext cx="48206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FF88"/>
                </a:solidFill>
                <a:latin typeface="Outfit"/>
                <a:ea typeface="Outfit"/>
                <a:cs typeface="Outfit"/>
                <a:sym typeface="Outfit"/>
              </a:rPr>
              <a:t>Diagrama de Secuencia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1019175" y="3445668"/>
            <a:ext cx="45910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Describe la interacción entre el Frontend, el Backend y el Motor de Modelos para retornar resultados en milisegundos.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1019175" y="4355306"/>
            <a:ext cx="4591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Consulta → Fetch → Cálculo → Persistencia → Visualización.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6581775" y="3017043"/>
            <a:ext cx="48206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FF88"/>
                </a:solidFill>
                <a:latin typeface="Outfit"/>
                <a:ea typeface="Outfit"/>
                <a:cs typeface="Outfit"/>
                <a:sym typeface="Outfit"/>
              </a:rPr>
              <a:t>Diagrama de Actividad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6581775" y="3445668"/>
            <a:ext cx="45910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Define el flujo de decisión del usuario: Registro → Selección de Encuentro → Procesamiento de Datos → Generación de ACCA.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6581775" y="4355306"/>
            <a:ext cx="4591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Enfoque en usabilidad y baja fricción para el usuario final.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Diagramas de Lógica (UML)</a:t>
            </a:r>
            <a:endParaRPr/>
          </a:p>
        </p:txBody>
      </p:sp>
      <p:sp>
        <p:nvSpPr>
          <p:cNvPr id="258" name="Google Shape;258;p22"/>
          <p:cNvSpPr/>
          <p:nvPr/>
        </p:nvSpPr>
        <p:spPr>
          <a:xfrm>
            <a:off x="771525" y="108585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10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"/>
          <p:cNvSpPr txBox="1"/>
          <p:nvPr/>
        </p:nvSpPr>
        <p:spPr>
          <a:xfrm>
            <a:off x="866775" y="4358729"/>
            <a:ext cx="3232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Página Principal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4479875" y="4358729"/>
            <a:ext cx="3232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Oportunidades (+EV)</a:t>
            </a:r>
            <a:endParaRPr/>
          </a:p>
        </p:txBody>
      </p:sp>
      <p:pic>
        <p:nvPicPr>
          <p:cNvPr descr="image.png" id="265" name="Google Shape;2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2975" y="2070645"/>
            <a:ext cx="3232249" cy="2154733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8092975" y="4358729"/>
            <a:ext cx="32322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Generador ACCA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Experiencia de Usuario (UI/UX)</a:t>
            </a:r>
            <a:endParaRPr/>
          </a:p>
        </p:txBody>
      </p:sp>
      <p:sp>
        <p:nvSpPr>
          <p:cNvPr id="268" name="Google Shape;268;p23"/>
          <p:cNvSpPr/>
          <p:nvPr/>
        </p:nvSpPr>
        <p:spPr>
          <a:xfrm>
            <a:off x="771525" y="108585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23"/>
          <p:cNvPicPr preferRelativeResize="0"/>
          <p:nvPr/>
        </p:nvPicPr>
        <p:blipFill rotWithShape="1">
          <a:blip r:embed="rId4">
            <a:alphaModFix/>
          </a:blip>
          <a:srcRect b="-74061" l="-29515" r="-72505" t="-27960"/>
          <a:stretch/>
        </p:blipFill>
        <p:spPr>
          <a:xfrm>
            <a:off x="109075" y="325650"/>
            <a:ext cx="5734050" cy="80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3425" y="1466850"/>
            <a:ext cx="3765004" cy="378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78423" y="1455810"/>
            <a:ext cx="3765000" cy="3946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10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771525" y="2557462"/>
            <a:ext cx="534066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FF88"/>
                </a:solidFill>
                <a:latin typeface="Outfit"/>
                <a:ea typeface="Outfit"/>
                <a:cs typeface="Outfit"/>
                <a:sym typeface="Outfit"/>
              </a:rPr>
              <a:t>Gestión Inteligente de Riesgo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771525" y="2986087"/>
            <a:ext cx="50863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Nuestra funcionalidad estrella permite construir apuestas combinadas basadas en perfiles de riesgo automáticos:</a:t>
            </a:r>
            <a:endParaRPr/>
          </a:p>
        </p:txBody>
      </p:sp>
      <p:pic>
        <p:nvPicPr>
          <p:cNvPr descr="image.png" id="279" name="Google Shape;27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1775" y="3038475"/>
            <a:ext cx="45910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 txBox="1"/>
          <p:nvPr/>
        </p:nvSpPr>
        <p:spPr>
          <a:xfrm>
            <a:off x="6581775" y="3990975"/>
            <a:ext cx="45910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Historial dinámico de ACCAs generadas con seguimiento de estado (Pending / Won / Lost).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771525" y="3719512"/>
            <a:ext cx="50863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FF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BAJO: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Picks con &gt;85% de confianza (Cuotas 1.2 - 1.5).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771525" y="4086225"/>
            <a:ext cx="50863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D1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MEDIO: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Balance entre cuota y probabilidad (Cuotas 1.8 - 2.5).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771525" y="4724400"/>
            <a:ext cx="50863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F4D4D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ALTO: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Eventos con alto Expected Value y cuotas &gt;3.0.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Smart ACCA Builder</a:t>
            </a:r>
            <a:endParaRPr/>
          </a:p>
        </p:txBody>
      </p:sp>
      <p:sp>
        <p:nvSpPr>
          <p:cNvPr id="285" name="Google Shape;285;p24"/>
          <p:cNvSpPr/>
          <p:nvPr/>
        </p:nvSpPr>
        <p:spPr>
          <a:xfrm>
            <a:off x="771525" y="108585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10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836664"/>
            <a:ext cx="10648950" cy="1003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5"/>
          <p:cNvSpPr txBox="1"/>
          <p:nvPr/>
        </p:nvSpPr>
        <p:spPr>
          <a:xfrm>
            <a:off x="771525" y="2327076"/>
            <a:ext cx="106489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adivinamos resultados. </a:t>
            </a:r>
            <a:r>
              <a:rPr b="0" i="0" lang="en-US" sz="1425" u="none" cap="none" strike="noStrik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Calculamos probabilidades</a:t>
            </a: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utilizando modelos estadísticos validados:</a:t>
            </a:r>
            <a:endParaRPr/>
          </a:p>
        </p:txBody>
      </p:sp>
      <p:pic>
        <p:nvPicPr>
          <p:cNvPr descr="image.png" id="293" name="Google Shape;29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5913" y="3084314"/>
            <a:ext cx="2340173" cy="508396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5"/>
          <p:cNvSpPr txBox="1"/>
          <p:nvPr/>
        </p:nvSpPr>
        <p:spPr>
          <a:xfrm>
            <a:off x="771525" y="3983235"/>
            <a:ext cx="534066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FF88"/>
                </a:solidFill>
                <a:latin typeface="Outfit"/>
                <a:ea typeface="Outfit"/>
                <a:cs typeface="Outfit"/>
                <a:sym typeface="Outfit"/>
              </a:rPr>
              <a:t>Distribución de Poisson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771525" y="4411860"/>
            <a:ext cx="50863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Utilizada para estimar la probabilidad de goles por equipo basado en su fuerza de ataque y debilidad de defensa relativa.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6334125" y="3983235"/>
            <a:ext cx="534066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FF88"/>
                </a:solidFill>
                <a:latin typeface="Outfit"/>
                <a:ea typeface="Outfit"/>
                <a:cs typeface="Outfit"/>
                <a:sym typeface="Outfit"/>
              </a:rPr>
              <a:t>Expected Value (EV)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6334125" y="4411860"/>
            <a:ext cx="50863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Identificamos cuotas mal calculadas por las casas de apuestas (Edge) comparando nuestra probabilidad real vs la implícita.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La Ciencia detrás de Prediktia</a:t>
            </a:r>
            <a:endParaRPr/>
          </a:p>
        </p:txBody>
      </p:sp>
      <p:sp>
        <p:nvSpPr>
          <p:cNvPr id="299" name="Google Shape;299;p25"/>
          <p:cNvSpPr/>
          <p:nvPr/>
        </p:nvSpPr>
        <p:spPr>
          <a:xfrm>
            <a:off x="771525" y="108585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10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5" name="Google Shape;305;p26"/>
          <p:cNvGraphicFramePr/>
          <p:nvPr/>
        </p:nvGraphicFramePr>
        <p:xfrm>
          <a:off x="771525" y="2505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{E0997520-7C52-494E-8F2C-630E7FFE777E}</a:tableStyleId>
              </a:tblPr>
              <a:tblGrid>
                <a:gridCol w="3091150"/>
                <a:gridCol w="1974500"/>
                <a:gridCol w="2614475"/>
                <a:gridCol w="2968825"/>
              </a:tblGrid>
              <a:tr h="54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FF8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Característica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FF8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Prediktia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FF8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Bet365 / Casas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FF8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Sofascore / Flash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88"/>
                    </a:solidFill>
                  </a:tcPr>
                </a:tc>
              </a:tr>
              <a:tr h="54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Detección de Valor (+EV)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FF8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Sí (Automático)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 (Conflicto interés)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Parcial (Solo data)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4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Generador ACCA (Riesgo)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FF8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Sí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Solo aleatorio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4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Enfoque LATAM / Español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FF8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Especializado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Global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Global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4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Modelos Predictivos (IA)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FF8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Sí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 disponible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Solo indicadores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306" name="Google Shape;306;p26"/>
          <p:cNvSpPr/>
          <p:nvPr/>
        </p:nvSpPr>
        <p:spPr>
          <a:xfrm>
            <a:off x="771525" y="3086100"/>
            <a:ext cx="3091160" cy="1905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3862685" y="3086100"/>
            <a:ext cx="1974502" cy="1905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5837187" y="3086100"/>
            <a:ext cx="2614463" cy="1905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8451651" y="3086100"/>
            <a:ext cx="2968823" cy="1905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771525" y="3609975"/>
            <a:ext cx="309116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3862685" y="3609975"/>
            <a:ext cx="197450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5837187" y="3609975"/>
            <a:ext cx="261446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8451651" y="3609975"/>
            <a:ext cx="296882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771525" y="4124325"/>
            <a:ext cx="309116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3862685" y="4124325"/>
            <a:ext cx="197450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5837187" y="4124325"/>
            <a:ext cx="261446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8451651" y="4124325"/>
            <a:ext cx="296882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771525" y="4638675"/>
            <a:ext cx="309116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3862685" y="4638675"/>
            <a:ext cx="197450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5837187" y="4638675"/>
            <a:ext cx="261446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8451651" y="4638675"/>
            <a:ext cx="296882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6"/>
          <p:cNvSpPr/>
          <p:nvPr/>
        </p:nvSpPr>
        <p:spPr>
          <a:xfrm>
            <a:off x="771525" y="5153025"/>
            <a:ext cx="309116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3862685" y="5153025"/>
            <a:ext cx="197450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6"/>
          <p:cNvSpPr/>
          <p:nvPr/>
        </p:nvSpPr>
        <p:spPr>
          <a:xfrm>
            <a:off x="5837187" y="5153025"/>
            <a:ext cx="261446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6"/>
          <p:cNvSpPr/>
          <p:nvPr/>
        </p:nvSpPr>
        <p:spPr>
          <a:xfrm>
            <a:off x="8451651" y="5153025"/>
            <a:ext cx="296882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6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Ventaja Competitiva</a:t>
            </a:r>
            <a:endParaRPr/>
          </a:p>
        </p:txBody>
      </p:sp>
      <p:sp>
        <p:nvSpPr>
          <p:cNvPr id="327" name="Google Shape;327;p26"/>
          <p:cNvSpPr/>
          <p:nvPr/>
        </p:nvSpPr>
        <p:spPr>
          <a:xfrm>
            <a:off x="771525" y="108585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10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2" name="Google Shape;33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707481"/>
            <a:ext cx="2447925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05200" y="2707481"/>
            <a:ext cx="2447925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707481"/>
            <a:ext cx="2447925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72550" y="2707481"/>
            <a:ext cx="2447925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7"/>
          <p:cNvSpPr txBox="1"/>
          <p:nvPr/>
        </p:nvSpPr>
        <p:spPr>
          <a:xfrm>
            <a:off x="771525" y="4574381"/>
            <a:ext cx="106489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* Estas métricas garantizan que el sistema no solo sea funcional, sino también viable y escalable para una audiencia real.</a:t>
            </a:r>
            <a:endParaRPr/>
          </a:p>
        </p:txBody>
      </p:sp>
      <p:sp>
        <p:nvSpPr>
          <p:cNvPr id="338" name="Google Shape;338;p27"/>
          <p:cNvSpPr txBox="1"/>
          <p:nvPr/>
        </p:nvSpPr>
        <p:spPr>
          <a:xfrm>
            <a:off x="1057275" y="2993231"/>
            <a:ext cx="1876425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≥70%</a:t>
            </a:r>
            <a:endParaRPr/>
          </a:p>
        </p:txBody>
      </p:sp>
      <p:sp>
        <p:nvSpPr>
          <p:cNvPr id="339" name="Google Shape;339;p27"/>
          <p:cNvSpPr txBox="1"/>
          <p:nvPr/>
        </p:nvSpPr>
        <p:spPr>
          <a:xfrm>
            <a:off x="1057275" y="3669506"/>
            <a:ext cx="18764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F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PRECISIÓN</a:t>
            </a:r>
            <a:endParaRPr/>
          </a:p>
        </p:txBody>
      </p:sp>
      <p:sp>
        <p:nvSpPr>
          <p:cNvPr id="340" name="Google Shape;340;p27"/>
          <p:cNvSpPr txBox="1"/>
          <p:nvPr/>
        </p:nvSpPr>
        <p:spPr>
          <a:xfrm>
            <a:off x="3790950" y="2993231"/>
            <a:ext cx="1876425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&lt;2s</a:t>
            </a:r>
            <a:endParaRPr/>
          </a:p>
        </p:txBody>
      </p:sp>
      <p:sp>
        <p:nvSpPr>
          <p:cNvPr id="341" name="Google Shape;341;p27"/>
          <p:cNvSpPr txBox="1"/>
          <p:nvPr/>
        </p:nvSpPr>
        <p:spPr>
          <a:xfrm>
            <a:off x="3790950" y="3669506"/>
            <a:ext cx="18764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F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RESP. API</a:t>
            </a:r>
            <a:endParaRPr/>
          </a:p>
        </p:txBody>
      </p:sp>
      <p:sp>
        <p:nvSpPr>
          <p:cNvPr id="342" name="Google Shape;342;p27"/>
          <p:cNvSpPr txBox="1"/>
          <p:nvPr/>
        </p:nvSpPr>
        <p:spPr>
          <a:xfrm>
            <a:off x="6524625" y="2993231"/>
            <a:ext cx="1876425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&lt;5m</a:t>
            </a:r>
            <a:endParaRPr/>
          </a:p>
        </p:txBody>
      </p:sp>
      <p:sp>
        <p:nvSpPr>
          <p:cNvPr id="343" name="Google Shape;343;p27"/>
          <p:cNvSpPr txBox="1"/>
          <p:nvPr/>
        </p:nvSpPr>
        <p:spPr>
          <a:xfrm>
            <a:off x="6524625" y="3669506"/>
            <a:ext cx="18764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F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SYNC CUOTAS</a:t>
            </a:r>
            <a:endParaRPr/>
          </a:p>
        </p:txBody>
      </p:sp>
      <p:sp>
        <p:nvSpPr>
          <p:cNvPr id="344" name="Google Shape;344;p27"/>
          <p:cNvSpPr txBox="1"/>
          <p:nvPr/>
        </p:nvSpPr>
        <p:spPr>
          <a:xfrm>
            <a:off x="9258300" y="2993231"/>
            <a:ext cx="1876425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99%</a:t>
            </a:r>
            <a:endParaRPr/>
          </a:p>
        </p:txBody>
      </p:sp>
      <p:sp>
        <p:nvSpPr>
          <p:cNvPr id="345" name="Google Shape;345;p27"/>
          <p:cNvSpPr txBox="1"/>
          <p:nvPr/>
        </p:nvSpPr>
        <p:spPr>
          <a:xfrm>
            <a:off x="9258300" y="3669506"/>
            <a:ext cx="18764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F8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UPTIME</a:t>
            </a:r>
            <a:endParaRPr/>
          </a:p>
        </p:txBody>
      </p:sp>
      <p:sp>
        <p:nvSpPr>
          <p:cNvPr id="346" name="Google Shape;346;p27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Excelencia Operacional (KPIs)</a:t>
            </a:r>
            <a:endParaRPr/>
          </a:p>
        </p:txBody>
      </p:sp>
      <p:sp>
        <p:nvSpPr>
          <p:cNvPr id="347" name="Google Shape;347;p27"/>
          <p:cNvSpPr/>
          <p:nvPr/>
        </p:nvSpPr>
        <p:spPr>
          <a:xfrm>
            <a:off x="771525" y="108585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10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2" name="Google Shape;3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83643"/>
            <a:ext cx="5086350" cy="2681287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8"/>
          <p:cNvSpPr txBox="1"/>
          <p:nvPr/>
        </p:nvSpPr>
        <p:spPr>
          <a:xfrm>
            <a:off x="771525" y="2483643"/>
            <a:ext cx="534066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FF88"/>
                </a:solidFill>
                <a:latin typeface="Outfit"/>
                <a:ea typeface="Outfit"/>
                <a:cs typeface="Outfit"/>
                <a:sym typeface="Outfit"/>
              </a:rPr>
              <a:t>Resultados</a:t>
            </a:r>
            <a:endParaRPr/>
          </a:p>
        </p:txBody>
      </p:sp>
      <p:sp>
        <p:nvSpPr>
          <p:cNvPr id="355" name="Google Shape;355;p28"/>
          <p:cNvSpPr txBox="1"/>
          <p:nvPr/>
        </p:nvSpPr>
        <p:spPr>
          <a:xfrm>
            <a:off x="771525" y="2912268"/>
            <a:ext cx="508635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Prediktia ha logrado integrar una arquitectura moderna y escalable, aplicando ingeniería de software para resolver un problema real del usuario: </a:t>
            </a:r>
            <a:r>
              <a:rPr b="0" i="0" lang="en-US" sz="1425" u="none" cap="none" strike="noStrik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la toma de decisiones desinformada</a:t>
            </a: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356" name="Google Shape;356;p28"/>
          <p:cNvSpPr txBox="1"/>
          <p:nvPr/>
        </p:nvSpPr>
        <p:spPr>
          <a:xfrm>
            <a:off x="771525" y="4093368"/>
            <a:ext cx="50863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uso de tecnologías como FastAPI y Next.js permite un rendimiento superior para el procesamiento de modelos probabilísticos complejos.</a:t>
            </a:r>
            <a:endParaRPr/>
          </a:p>
        </p:txBody>
      </p:sp>
      <p:sp>
        <p:nvSpPr>
          <p:cNvPr id="357" name="Google Shape;357;p28"/>
          <p:cNvSpPr txBox="1"/>
          <p:nvPr/>
        </p:nvSpPr>
        <p:spPr>
          <a:xfrm>
            <a:off x="6581775" y="2750343"/>
            <a:ext cx="48206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FF88"/>
                </a:solidFill>
                <a:latin typeface="Outfit"/>
                <a:ea typeface="Outfit"/>
                <a:cs typeface="Outfit"/>
                <a:sym typeface="Outfit"/>
              </a:rPr>
              <a:t>Futuro de Prediktia</a:t>
            </a:r>
            <a:endParaRPr/>
          </a:p>
        </p:txBody>
      </p:sp>
      <p:sp>
        <p:nvSpPr>
          <p:cNvPr id="358" name="Google Shape;358;p28"/>
          <p:cNvSpPr txBox="1"/>
          <p:nvPr/>
        </p:nvSpPr>
        <p:spPr>
          <a:xfrm>
            <a:off x="6581775" y="3178968"/>
            <a:ext cx="45910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Expansión a Tenis y Baloncesto.</a:t>
            </a:r>
            <a:endParaRPr/>
          </a:p>
        </p:txBody>
      </p:sp>
      <p:sp>
        <p:nvSpPr>
          <p:cNvPr id="359" name="Google Shape;359;p28"/>
          <p:cNvSpPr txBox="1"/>
          <p:nvPr/>
        </p:nvSpPr>
        <p:spPr>
          <a:xfrm>
            <a:off x="6581775" y="3545681"/>
            <a:ext cx="45910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Implementación de redes neuronales (Deep Learning).</a:t>
            </a:r>
            <a:endParaRPr/>
          </a:p>
        </p:txBody>
      </p:sp>
      <p:sp>
        <p:nvSpPr>
          <p:cNvPr id="360" name="Google Shape;360;p28"/>
          <p:cNvSpPr txBox="1"/>
          <p:nvPr/>
        </p:nvSpPr>
        <p:spPr>
          <a:xfrm>
            <a:off x="6581775" y="4183856"/>
            <a:ext cx="45910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Notificaciones push para Value Bets críticas.</a:t>
            </a:r>
            <a:endParaRPr/>
          </a:p>
        </p:txBody>
      </p:sp>
      <p:sp>
        <p:nvSpPr>
          <p:cNvPr id="361" name="Google Shape;361;p28"/>
          <p:cNvSpPr txBox="1"/>
          <p:nvPr/>
        </p:nvSpPr>
        <p:spPr>
          <a:xfrm>
            <a:off x="6581775" y="4550568"/>
            <a:ext cx="45910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Módulo de competencia entre usuarios.</a:t>
            </a:r>
            <a:endParaRPr/>
          </a:p>
        </p:txBody>
      </p:sp>
      <p:sp>
        <p:nvSpPr>
          <p:cNvPr id="362" name="Google Shape;362;p28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Conclusiones y Siguientes Pasos</a:t>
            </a:r>
            <a:endParaRPr/>
          </a:p>
        </p:txBody>
      </p:sp>
      <p:sp>
        <p:nvSpPr>
          <p:cNvPr id="363" name="Google Shape;363;p28"/>
          <p:cNvSpPr/>
          <p:nvPr/>
        </p:nvSpPr>
        <p:spPr>
          <a:xfrm>
            <a:off x="771525" y="1085850"/>
            <a:ext cx="76200" cy="381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8" name="Google Shape;36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0" y="3521868"/>
            <a:ext cx="2990850" cy="671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0350" y="3521868"/>
            <a:ext cx="2343150" cy="671512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9"/>
          <p:cNvSpPr txBox="1"/>
          <p:nvPr/>
        </p:nvSpPr>
        <p:spPr>
          <a:xfrm>
            <a:off x="2080498" y="1416843"/>
            <a:ext cx="8031003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¿Dudas o Comentarios?</a:t>
            </a:r>
            <a:endParaRPr/>
          </a:p>
        </p:txBody>
      </p:sp>
      <p:sp>
        <p:nvSpPr>
          <p:cNvPr id="372" name="Google Shape;372;p29"/>
          <p:cNvSpPr txBox="1"/>
          <p:nvPr/>
        </p:nvSpPr>
        <p:spPr>
          <a:xfrm>
            <a:off x="3538537" y="2455068"/>
            <a:ext cx="51149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FF8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Transformando datos en oportunidades.</a:t>
            </a:r>
            <a:endParaRPr/>
          </a:p>
        </p:txBody>
      </p:sp>
      <p:sp>
        <p:nvSpPr>
          <p:cNvPr id="373" name="Google Shape;373;p29"/>
          <p:cNvSpPr txBox="1"/>
          <p:nvPr/>
        </p:nvSpPr>
        <p:spPr>
          <a:xfrm>
            <a:off x="3981450" y="5145881"/>
            <a:ext cx="4229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 2026 Prediktia Project | Duoc UC | Taller Aplicado de Programación</a:t>
            </a:r>
            <a:endParaRPr/>
          </a:p>
        </p:txBody>
      </p:sp>
      <p:sp>
        <p:nvSpPr>
          <p:cNvPr id="374" name="Google Shape;374;p29"/>
          <p:cNvSpPr txBox="1"/>
          <p:nvPr/>
        </p:nvSpPr>
        <p:spPr>
          <a:xfrm>
            <a:off x="3538525" y="3431021"/>
            <a:ext cx="25908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github.com/mvh11/Prediktia</a:t>
            </a:r>
            <a:endParaRPr/>
          </a:p>
        </p:txBody>
      </p:sp>
      <p:sp>
        <p:nvSpPr>
          <p:cNvPr id="375" name="Google Shape;375;p29"/>
          <p:cNvSpPr txBox="1"/>
          <p:nvPr/>
        </p:nvSpPr>
        <p:spPr>
          <a:xfrm>
            <a:off x="6810375" y="3721893"/>
            <a:ext cx="19431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prediktia.vercel.app</a:t>
            </a:r>
            <a:endParaRPr/>
          </a:p>
        </p:txBody>
      </p:sp>
      <p:pic>
        <p:nvPicPr>
          <p:cNvPr descr="image.png" id="376" name="Google Shape;376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38525" y="377904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0375" y="3779043"/>
            <a:ext cx="1809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